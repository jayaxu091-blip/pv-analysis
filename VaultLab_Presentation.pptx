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c8b30b4daf4a77" /><Relationship Type="http://schemas.openxmlformats.org/officeDocument/2006/relationships/extended-properties" Target="/docProps/app.xml" Id="R1b5d69a3bec44341" /><Relationship Type="http://schemas.openxmlformats.org/officeDocument/2006/relationships/officeDocument" Target="/ppt/presentation.xml" Id="Re2031fe37c4a43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ef5249cda7449a"/>
  </p:sldMasterIdLst>
  <p:notesMasterIdLst>
    <p:notesMasterId xmlns:r="http://schemas.openxmlformats.org/officeDocument/2006/relationships" r:id="R1b6db36539934b40"/>
  </p:notesMasterIdLst>
  <p:sldIdLst>
    <p:sldId xmlns:r="http://schemas.openxmlformats.org/officeDocument/2006/relationships" id="256" r:id="Rac024674422f49c2"/>
    <p:sldId xmlns:r="http://schemas.openxmlformats.org/officeDocument/2006/relationships" id="257" r:id="Rae6ad11aeaba4e4f"/>
    <p:sldId xmlns:r="http://schemas.openxmlformats.org/officeDocument/2006/relationships" id="258" r:id="R643e6f39ee21438a"/>
    <p:sldId xmlns:r="http://schemas.openxmlformats.org/officeDocument/2006/relationships" id="259" r:id="R5b35ce5d00864db7"/>
    <p:sldId xmlns:r="http://schemas.openxmlformats.org/officeDocument/2006/relationships" id="260" r:id="R5aa2802dab4a4d64"/>
    <p:sldId xmlns:r="http://schemas.openxmlformats.org/officeDocument/2006/relationships" id="261" r:id="R362043fa61384098"/>
    <p:sldId xmlns:r="http://schemas.openxmlformats.org/officeDocument/2006/relationships" id="262" r:id="R115546f4b43f45d6"/>
    <p:sldId xmlns:r="http://schemas.openxmlformats.org/officeDocument/2006/relationships" id="263" r:id="R5ee25a35f537488c"/>
    <p:sldId xmlns:r="http://schemas.openxmlformats.org/officeDocument/2006/relationships" id="264" r:id="R83693ee8da7e4ff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f2d6076e064a14" /><Relationship Type="http://schemas.openxmlformats.org/officeDocument/2006/relationships/slideMaster" Target="/ppt/slideMasters/slideMaster1.xml" Id="R03ef5249cda7449a" /><Relationship Type="http://schemas.openxmlformats.org/officeDocument/2006/relationships/notesMaster" Target="/ppt/notesMasters/notesMaster1.xml" Id="R1b6db36539934b40" /><Relationship Type="http://schemas.openxmlformats.org/officeDocument/2006/relationships/presProps" Target="/ppt/presProps.xml" Id="R02acc49845b647ff" /><Relationship Type="http://schemas.openxmlformats.org/officeDocument/2006/relationships/tableStyles" Target="/ppt/tableStyles.xml" Id="R04fef040ca844033" /><Relationship Type="http://schemas.openxmlformats.org/officeDocument/2006/relationships/slide" Target="/ppt/slides/slide1.xml" Id="Rac024674422f49c2" /><Relationship Type="http://schemas.openxmlformats.org/officeDocument/2006/relationships/slide" Target="/ppt/slides/slide2.xml" Id="Rae6ad11aeaba4e4f" /><Relationship Type="http://schemas.openxmlformats.org/officeDocument/2006/relationships/slide" Target="/ppt/slides/slide3.xml" Id="R643e6f39ee21438a" /><Relationship Type="http://schemas.openxmlformats.org/officeDocument/2006/relationships/slide" Target="/ppt/slides/slide4.xml" Id="R5b35ce5d00864db7" /><Relationship Type="http://schemas.openxmlformats.org/officeDocument/2006/relationships/slide" Target="/ppt/slides/slide5.xml" Id="R5aa2802dab4a4d64" /><Relationship Type="http://schemas.openxmlformats.org/officeDocument/2006/relationships/slide" Target="/ppt/slides/slide6.xml" Id="R362043fa61384098" /><Relationship Type="http://schemas.openxmlformats.org/officeDocument/2006/relationships/slide" Target="/ppt/slides/slide7.xml" Id="R115546f4b43f45d6" /><Relationship Type="http://schemas.openxmlformats.org/officeDocument/2006/relationships/slide" Target="/ppt/slides/slide8.xml" Id="R5ee25a35f537488c" /><Relationship Type="http://schemas.openxmlformats.org/officeDocument/2006/relationships/slide" Target="/ppt/slides/slide9.xml" Id="R83693ee8da7e4f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e86e3a5da445b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f691be576664162" /><Relationship Type="http://schemas.openxmlformats.org/officeDocument/2006/relationships/notesMaster" Target="/ppt/notesMasters/notesMaster1.xml" Id="R8595b22c44a941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907379568d94d47" /><Relationship Type="http://schemas.openxmlformats.org/officeDocument/2006/relationships/notesMaster" Target="/ppt/notesMasters/notesMaster1.xml" Id="R805c9daa96cb4d7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3bded4915c048cf" /><Relationship Type="http://schemas.openxmlformats.org/officeDocument/2006/relationships/notesMaster" Target="/ppt/notesMasters/notesMaster1.xml" Id="R0ca18b3eef3d43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527aeef3d04518" /><Relationship Type="http://schemas.openxmlformats.org/officeDocument/2006/relationships/notesMaster" Target="/ppt/notesMasters/notesMaster1.xml" Id="R15b8ae038011467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aef90f3a284dd5" /><Relationship Type="http://schemas.openxmlformats.org/officeDocument/2006/relationships/notesMaster" Target="/ppt/notesMasters/notesMaster1.xml" Id="R0dba0f1dd511447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c71da86980d4693" /><Relationship Type="http://schemas.openxmlformats.org/officeDocument/2006/relationships/notesMaster" Target="/ppt/notesMasters/notesMaster1.xml" Id="Rb02e8fbfb37e4d0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fd0a3a669634b87" /><Relationship Type="http://schemas.openxmlformats.org/officeDocument/2006/relationships/notesMaster" Target="/ppt/notesMasters/notesMaster1.xml" Id="R2f88ebb27a054d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be2b73710364c0a" /><Relationship Type="http://schemas.openxmlformats.org/officeDocument/2006/relationships/notesMaster" Target="/ppt/notesMasters/notesMaster1.xml" Id="Re005cb4cbd0a4b6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a530fdb95d64cfc" /><Relationship Type="http://schemas.openxmlformats.org/officeDocument/2006/relationships/notesMaster" Target="/ppt/notesMasters/notesMaster1.xml" Id="R5ba7d390e598402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Project prototype and author research notes.</a:t>
            </a:r>
          </a:p>
          <a:p xmlns:a="http://schemas.openxmlformats.org/drawingml/2006/main">
            <a:r>
              <a:t>Opening hook: a normal phone video can become measurable technique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User project goals and competition description.</a:t>
            </a:r>
          </a:p>
          <a:p xmlns:a="http://schemas.openxmlformats.org/drawingml/2006/main">
            <a:r>
              <a:t>Problem framing emphasizes accessibility and objectivity.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scikit-learn LogisticRegression documentation; project methodology.</a:t>
            </a:r>
          </a:p>
          <a:p xmlns:a="http://schemas.openxmlformats.org/drawingml/2006/main">
            <a:r>
              <a:t>Logistic regression is interpretable through feature coefficients.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Google MediaPipe Pose Landmarker documentation; VaultLab source code.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Linthorne et al. 2012; author research map; VaultLab metrics.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Firebase Hosting deployment; VaultLab GitHub repository.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Bissas &amp; Cronin 2026; author research notes.</a:t>
            </a:r>
          </a:p>
          <a:p xmlns:a="http://schemas.openxmlformats.org/drawingml/2006/main">
            <a:r>
              <a:t>This slide prevents overclaiming and makes the project sound scientifically mature.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Project objective and app implementation.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 Project roadmap; scikit-learn LogisticRegression documentation; author research map.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99c46c743041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6db46e064ad46ba" /><Relationship Type="http://schemas.openxmlformats.org/officeDocument/2006/relationships/slideLayout" Target="/ppt/slideLayouts/slideLayout1.xml" Id="Rdf3f837c1efd436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3f837c1efd43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f28a5e01a24447" /><Relationship Type="http://schemas.openxmlformats.org/officeDocument/2006/relationships/notesSlide" Target="/ppt/notesSlides/notesSlide1.xml" Id="R6af0bde861bd47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53213b761e4170" /><Relationship Type="http://schemas.openxmlformats.org/officeDocument/2006/relationships/notesSlide" Target="/ppt/notesSlides/notesSlide2.xml" Id="Rd07dcfecfdbe47d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4578f2be84f9d" /><Relationship Type="http://schemas.openxmlformats.org/officeDocument/2006/relationships/notesSlide" Target="/ppt/notesSlides/notesSlide3.xml" Id="R623ec2bc8f324d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c052aac6304528" /><Relationship Type="http://schemas.openxmlformats.org/officeDocument/2006/relationships/notesSlide" Target="/ppt/notesSlides/notesSlide4.xml" Id="R62d6cfa2a96a4a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502a40327c4b11" /><Relationship Type="http://schemas.openxmlformats.org/officeDocument/2006/relationships/notesSlide" Target="/ppt/notesSlides/notesSlide5.xml" Id="R7014faf1f475499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8b4335652e4cad" /><Relationship Type="http://schemas.openxmlformats.org/officeDocument/2006/relationships/notesSlide" Target="/ppt/notesSlides/notesSlide6.xml" Id="R82ca60976ee242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0c18f04e34983" /><Relationship Type="http://schemas.openxmlformats.org/officeDocument/2006/relationships/notesSlide" Target="/ppt/notesSlides/notesSlide7.xml" Id="R95e39640282148a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40ea22104420c" /><Relationship Type="http://schemas.openxmlformats.org/officeDocument/2006/relationships/notesSlide" Target="/ppt/notesSlides/notesSlide8.xml" Id="R54318ead6da844b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147649be374aed" /><Relationship Type="http://schemas.openxmlformats.org/officeDocument/2006/relationships/notesSlide" Target="/ppt/notesSlides/notesSlide9.xml" Id="Rb2a28c1a7889474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DBBC54-75D4-45BE-AEC8-D47C5BCE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809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11827"/>
                </a:solidFill>
              </a:defRPr>
            </a:pPr>
            <a:r>
              <a:rPr sz="4200" b="1">
                <a:solidFill>
                  <a:srgbClr val="111827"/>
                </a:solidFill>
              </a:rPr>
              <a:t>What if every vault video became data?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663F5A-C817-4CC0-860F-3F871EF5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B5563"/>
                </a:solidFill>
              </a:defRPr>
            </a:pPr>
            <a:r>
              <a:rPr sz="1950" b="0">
                <a:solidFill>
                  <a:srgbClr val="4B5563"/>
                </a:solidFill>
              </a:rPr>
              <a:t>VaultLab uses pose estimation and interpretable machine learning to help pole vaulters understand technique.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D7DF47-BB4D-4A76-BFD4-996BA8A79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800100"/>
            <a:ext cx="257175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F"/>
          </a:solidFill>
          <a:ln xmlns:a="http://schemas.openxmlformats.org/drawingml/2006/main" w="9525">
            <a:solidFill>
              <a:srgbClr val="10231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0C77DC-B220-420B-99B7-46C80865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600200"/>
            <a:ext cx="1619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8FD6C9"/>
                </a:solidFill>
              </a:defRPr>
            </a:pPr>
            <a:r>
              <a:rPr sz="5400" b="1">
                <a:solidFill>
                  <a:srgbClr val="8FD6C9"/>
                </a:solidFill>
              </a:rPr>
              <a:t>VL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CD4E05-E859-4554-A829-C6FF9007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971800"/>
            <a:ext cx="2000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AI video analysis</a:t>
            </a:r>
          </a:p>
          <a:p xmlns:a="http://schemas.openxmlformats.org/drawingml/2006/main">
            <a:pPr algn="ctr"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</a:rPr>
              <a:t>for pole vault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4A7AED-3F9C-4898-ADF2-2E990882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293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</a:defRPr>
            </a:pPr>
            <a:r>
              <a:rPr sz="1500" b="0">
                <a:solidFill>
                  <a:srgbClr val="4B5563"/>
                </a:solidFill>
              </a:rPr>
              <a:t>STEM Research &amp; Innovation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5AC95E-1FED-4607-8167-DA8196E63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3055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VaultLab | 1</a:t>
            </a:r>
          </a:p>
        </p:txBody>
      </p:sp>
    </p:spTree>
    <p:extLst>
      <p:ext uri="{BB962C8B-B14F-4D97-AF65-F5344CB8AC3E}">
        <p14:creationId xmlns:p14="http://schemas.microsoft.com/office/powerpoint/2010/main" val="13901757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BF8031-4FCD-4F1C-A528-48AE0919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Young athletes get video, but not measurements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94E26B-7453-4755-ACD9-12F90FB1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133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D25"/>
          </a:solidFill>
          <a:ln xmlns:a="http://schemas.openxmlformats.org/drawingml/2006/main" w="0">
            <a:solidFill>
              <a:srgbClr val="D99D2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C1D5A4-A0B0-47F7-A5C3-E3AA7D9FE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43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12EDBF-760E-4358-A10A-FED8351A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57450"/>
            <a:ext cx="699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827"/>
                </a:solidFill>
              </a:defRPr>
            </a:pPr>
            <a:r>
              <a:rPr sz="2100" b="0">
                <a:solidFill>
                  <a:srgbClr val="111827"/>
                </a:solidFill>
              </a:rPr>
              <a:t>Coaching feedback is often visual and subjective.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ED755C-B681-4A34-8DC7-ABD132D8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28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30DE7C-023E-4A2F-A450-A2B7CA69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143250"/>
            <a:ext cx="699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827"/>
                </a:solidFill>
              </a:defRPr>
            </a:pPr>
            <a:r>
              <a:rPr sz="2100" b="0">
                <a:solidFill>
                  <a:srgbClr val="111827"/>
                </a:solidFill>
              </a:rPr>
              <a:t>Biomechanical tools can be expensive or hard to access.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CEF228-9BEC-4B0A-A454-3DBA2A4D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14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355713-76DC-4FE6-AD7B-97ECFD5E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29050"/>
            <a:ext cx="6991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827"/>
                </a:solidFill>
              </a:defRPr>
            </a:pPr>
            <a:r>
              <a:rPr sz="2100" b="0">
                <a:solidFill>
                  <a:srgbClr val="111827"/>
                </a:solidFill>
              </a:rPr>
              <a:t>Pole vault happens too fast to judge every phase by eye.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CE6CB5-0A97-40D5-9249-132DE00C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392CE6-5E73-4414-ABCE-86E7D990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670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766E"/>
                </a:solidFill>
              </a:defRPr>
            </a:pPr>
            <a:r>
              <a:rPr sz="2400" b="1">
                <a:solidFill>
                  <a:srgbClr val="0F766E"/>
                </a:solidFill>
              </a:rPr>
              <a:t>Access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527A0A-24A3-4E73-9DED-46FC7C50D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10515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Core problem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5C9A97-9B94-4916-A00F-7469FAFF2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829050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BABCF7-2A50-4672-AEB9-33440924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0005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766E"/>
                </a:solidFill>
              </a:defRPr>
            </a:pPr>
            <a:r>
              <a:rPr sz="2400" b="1">
                <a:solidFill>
                  <a:srgbClr val="0F766E"/>
                </a:solidFill>
              </a:rPr>
              <a:t>Athletes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90FEC2-E6C6-42AA-8F4F-6BCBD886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43865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Target user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EA0D5E-5F1B-4AF8-8C38-77ACDFC4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3055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VaultLab | 2</a:t>
            </a:r>
          </a:p>
        </p:txBody>
      </p:sp>
    </p:spTree>
    <p:extLst>
      <p:ext uri="{BB962C8B-B14F-4D97-AF65-F5344CB8AC3E}">
        <p14:creationId xmlns:p14="http://schemas.microsoft.com/office/powerpoint/2010/main" val="3083885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46FEB2-E50E-4661-A006-1594C1779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Research question: which variables predict success?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4E3196-524E-44C7-BE85-A58D88CA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133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D25"/>
          </a:solidFill>
          <a:ln xmlns:a="http://schemas.openxmlformats.org/drawingml/2006/main" w="0">
            <a:solidFill>
              <a:srgbClr val="D99D2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E1DBB6-EF1D-4435-AE81-0440E1B8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9334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Can computer vision extract pole-vault technique variables from video and use them to predict whether a jump is a make or miss?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B4BCDC-44EF-452D-9576-D9C3A7C37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9525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FC954-1682-41B5-8A0B-09AFCCD9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81500"/>
            <a:ext cx="885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Planned model: logistic regression because the target label is binary: make or miss.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87ADE4-6E26-49B9-8B19-68B73BF2C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3055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VaultLab | 3</a:t>
            </a:r>
          </a:p>
        </p:txBody>
      </p:sp>
    </p:spTree>
    <p:extLst>
      <p:ext uri="{BB962C8B-B14F-4D97-AF65-F5344CB8AC3E}">
        <p14:creationId xmlns:p14="http://schemas.microsoft.com/office/powerpoint/2010/main" val="9163658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535CEC-2D52-48AB-88F9-624F51EBB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The system turns video into a research dataset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EC9D70-59CF-4F10-A2E6-7F5466C3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133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D25"/>
          </a:solidFill>
          <a:ln xmlns:a="http://schemas.openxmlformats.org/drawingml/2006/main" w="0">
            <a:solidFill>
              <a:srgbClr val="D99D2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3EA725-5B8D-4A0F-A6EE-B8C44B108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1619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AF7"/>
          </a:solidFill>
          <a:ln xmlns:a="http://schemas.openxmlformats.org/drawingml/2006/main" w="9525">
            <a:solidFill>
              <a:srgbClr val="CBD5D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578356-5F76-4CCB-BA2E-20B1943A8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1352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Video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D9597D-E0F2-44F8-A958-A1CF7F4F1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9337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D99D25"/>
                </a:solidFill>
              </a:defRPr>
            </a:pPr>
            <a:r>
              <a:rPr sz="2550" b="1">
                <a:solidFill>
                  <a:srgbClr val="D99D25"/>
                </a:solidFill>
              </a:rPr>
              <a:t>&gt;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D61BA9-46DC-4D3F-8BC5-F1E45BB0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667000"/>
            <a:ext cx="1619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1"/>
          </a:solidFill>
          <a:ln xmlns:a="http://schemas.openxmlformats.org/drawingml/2006/main" w="9525">
            <a:solidFill>
              <a:srgbClr val="CBD5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D014CA-B2BB-41FC-A04A-20DDD33EE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952750"/>
            <a:ext cx="1352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Pose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7B7F5B-E8E1-48DE-9240-ABC92E63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9337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D99D25"/>
                </a:solidFill>
              </a:defRPr>
            </a:pPr>
            <a:r>
              <a:rPr sz="2550" b="1">
                <a:solidFill>
                  <a:srgbClr val="D99D25"/>
                </a:solidFill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8971F-440E-4F52-9926-210C93839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667000"/>
            <a:ext cx="1619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1"/>
          </a:solidFill>
          <a:ln xmlns:a="http://schemas.openxmlformats.org/drawingml/2006/main" w="9525">
            <a:solidFill>
              <a:srgbClr val="CBD5D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2EDC75-5C72-4CDA-9E70-7E0465D9F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952750"/>
            <a:ext cx="1352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Metrics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A6E696-2770-4860-A40D-6F4DDDA0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9337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D99D25"/>
                </a:solidFill>
              </a:defRPr>
            </a:pPr>
            <a:r>
              <a:rPr sz="2550" b="1">
                <a:solidFill>
                  <a:srgbClr val="D99D25"/>
                </a:solidFill>
              </a:rPr>
              <a:t>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9CD5E4-B3DF-46A4-9A72-C8C31D8D1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67000"/>
            <a:ext cx="1619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1"/>
          </a:solidFill>
          <a:ln xmlns:a="http://schemas.openxmlformats.org/drawingml/2006/main" w="9525">
            <a:solidFill>
              <a:srgbClr val="CBD5D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928C2F-A138-4959-90BD-1CA2869E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52750"/>
            <a:ext cx="1352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Dataset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BCDC3E-4498-4E47-BFBD-A16524EF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9337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D99D25"/>
                </a:solidFill>
              </a:defRPr>
            </a:pPr>
            <a:r>
              <a:rPr sz="2550" b="1">
                <a:solidFill>
                  <a:srgbClr val="D99D25"/>
                </a:solidFill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645EC8-111B-4C92-9831-191EAB72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667000"/>
            <a:ext cx="1619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1"/>
          </a:solidFill>
          <a:ln xmlns:a="http://schemas.openxmlformats.org/drawingml/2006/main" w="9525">
            <a:solidFill>
              <a:srgbClr val="CBD5D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4FDCBB-6C65-4A76-B1D8-10BC752DD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952750"/>
            <a:ext cx="1352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Prediction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F903F3-208A-4D4D-836F-A7F4E5F2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AE56A1-6F39-471D-AF91-CF1C1C4E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86250"/>
            <a:ext cx="8515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Pose landmarks locate shoulders, hips, knees, and ankles.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189B54-D226-4F4D-9BA4-6EF8D50F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29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949C2D-783A-45C2-AEBA-5BE7E521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43450"/>
            <a:ext cx="8515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VaultLab estimates takeoff, inversion, clearance, and speed.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9BC1E8-5D20-44E5-BF34-01189347E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86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1F0A92-54E6-4A72-B883-252804F8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200650"/>
            <a:ext cx="8515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Each saved attempt becomes one labeled model row.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6BDC98-7EAD-421A-A2EA-F4203A6A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3055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VaultLab | 4</a:t>
            </a:r>
          </a:p>
        </p:txBody>
      </p:sp>
    </p:spTree>
    <p:extLst>
      <p:ext uri="{BB962C8B-B14F-4D97-AF65-F5344CB8AC3E}">
        <p14:creationId xmlns:p14="http://schemas.microsoft.com/office/powerpoint/2010/main" val="5273875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283C8B-4122-4E1C-A59E-0E67834A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VaultLab measures the variables coaches care about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1CDAF8-D92E-4593-8224-EC9A596FA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133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D25"/>
          </a:solidFill>
          <a:ln xmlns:a="http://schemas.openxmlformats.org/drawingml/2006/main" w="0">
            <a:solidFill>
              <a:srgbClr val="D99D2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B8A3E6-DC55-46E6-9D07-24036A45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3050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BD9045-4A31-4BDC-B516-551B469DC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F766E"/>
                </a:solidFill>
              </a:defRPr>
            </a:pPr>
            <a:r>
              <a:rPr sz="2175" b="1">
                <a:solidFill>
                  <a:srgbClr val="0F766E"/>
                </a:solidFill>
              </a:rPr>
              <a:t>Approach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86B5B8-2673-426B-8D23-561EF55D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19450"/>
            <a:ext cx="1866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distance / 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2D2F27-AD18-4AC9-945F-1CE2001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</a:defRPr>
            </a:pPr>
            <a:r>
              <a:rPr sz="1500" b="0">
                <a:solidFill>
                  <a:srgbClr val="4B5563"/>
                </a:solidFill>
              </a:rPr>
              <a:t>speed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981AD6-E7F6-4EF2-B8D3-D0EFA511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381250"/>
            <a:ext cx="23050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A93FC7-429B-4016-9B87-52DD8DCE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6670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F766E"/>
                </a:solidFill>
              </a:defRPr>
            </a:pPr>
            <a:r>
              <a:rPr sz="2175" b="1">
                <a:solidFill>
                  <a:srgbClr val="0F766E"/>
                </a:solidFill>
              </a:rPr>
              <a:t>Takeoff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3714A9-9B46-4911-BC33-4A095497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19450"/>
            <a:ext cx="1866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body line angle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E5313C-EBBE-4C8F-84C0-6A2B0F44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</a:defRPr>
            </a:pPr>
            <a:r>
              <a:rPr sz="1500" b="0">
                <a:solidFill>
                  <a:srgbClr val="4B5563"/>
                </a:solidFill>
              </a:rPr>
              <a:t>timing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44F5C1-AC37-4512-B78B-2BA9A026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23050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0137EE-7A98-484F-A47D-30B92E33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670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F766E"/>
                </a:solidFill>
              </a:defRPr>
            </a:pPr>
            <a:r>
              <a:rPr sz="2175" b="1">
                <a:solidFill>
                  <a:srgbClr val="0F766E"/>
                </a:solidFill>
              </a:rPr>
              <a:t>Inversion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62B217-DC1B-4235-99BB-4365DFC9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19450"/>
            <a:ext cx="1866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shoulder-hip-ankle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AD4E8-70D0-48AF-9F56-8B9A9DFF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052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</a:defRPr>
            </a:pPr>
            <a:r>
              <a:rPr sz="1500" b="0">
                <a:solidFill>
                  <a:srgbClr val="4B5563"/>
                </a:solidFill>
              </a:rPr>
              <a:t>swing quality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BE84B2-D8B6-48AA-8AAA-5B81F4AA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81250"/>
            <a:ext cx="23050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14AA09-13C0-485E-A115-D5BF5DAB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670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F766E"/>
                </a:solidFill>
              </a:defRPr>
            </a:pPr>
            <a:r>
              <a:rPr sz="2175" b="1">
                <a:solidFill>
                  <a:srgbClr val="0F766E"/>
                </a:solidFill>
              </a:rPr>
              <a:t>Clearance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67C2F1-1D60-4D4F-823F-EA1AFC67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219450"/>
            <a:ext cx="1866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</a:defRPr>
            </a:pPr>
            <a:r>
              <a:rPr sz="1650" b="0">
                <a:solidFill>
                  <a:srgbClr val="111827"/>
                </a:solidFill>
              </a:rPr>
              <a:t>bar result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B75CF3-661B-45CA-B318-2F70879C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05250"/>
            <a:ext cx="1866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</a:defRPr>
            </a:pPr>
            <a:r>
              <a:rPr sz="1500" b="0">
                <a:solidFill>
                  <a:srgbClr val="4B5563"/>
                </a:solidFill>
              </a:rPr>
              <a:t>make/miss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3351B3-B4DE-4694-ACDB-AA56C79A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3055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VaultLab | 5</a:t>
            </a:r>
          </a:p>
        </p:txBody>
      </p:sp>
    </p:spTree>
    <p:extLst>
      <p:ext uri="{BB962C8B-B14F-4D97-AF65-F5344CB8AC3E}">
        <p14:creationId xmlns:p14="http://schemas.microsoft.com/office/powerpoint/2010/main" val="20371749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7A4E6E-B1DC-4139-9D94-9AD5A682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The prototype is already live and demo-ready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CEF1F6-616D-4C75-A397-DF28DA6A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133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D25"/>
          </a:solidFill>
          <a:ln xmlns:a="http://schemas.openxmlformats.org/drawingml/2006/main" w="0">
            <a:solidFill>
              <a:srgbClr val="D99D2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9CDCD3-E053-443F-96A6-3E8AC83C4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C2489E-6794-44DD-AAFF-1C1AEA251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47900"/>
            <a:ext cx="784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React + Vite + TypeScript web app hosted on Firebase.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93F9C3-5539-4C3B-849C-9F81656E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241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05E2E4-7AE1-44D0-B28C-E18A1181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38450"/>
            <a:ext cx="784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Firebase sign-in plus demo mode for judges.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266763-3106-43C8-9F86-B26B9C7F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14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C061AA-68F8-4F49-B379-356CC268E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29000"/>
            <a:ext cx="784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Full-video pose analysis with skeleton overlay.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5BF6BF-E408-45A9-A1AE-FC88DF6A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05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017484-3789-4B70-ADB6-4455774ED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19550"/>
            <a:ext cx="7848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Attempt log, CSV export, and research-readiness panel.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F92E77-6160-491B-82BD-1CF70031F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419350"/>
            <a:ext cx="2286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F"/>
          </a:solidFill>
          <a:ln xmlns:a="http://schemas.openxmlformats.org/drawingml/2006/main" w="9525">
            <a:solidFill>
              <a:srgbClr val="1023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0F8CA3-9735-43D1-8BDA-181C3B0C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81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8FD6C9"/>
                </a:solidFill>
              </a:defRPr>
            </a:pPr>
            <a:r>
              <a:rPr sz="1725" b="1">
                <a:solidFill>
                  <a:srgbClr val="8FD6C9"/>
                </a:solidFill>
              </a:rPr>
              <a:t>Live app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2A7853-1B17-466D-B4E2-1C3A3501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385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pvanalysis-68252.web.app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45264F-C694-4750-82F7-E12C52EA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3055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VaultLab | 6</a:t>
            </a:r>
          </a:p>
        </p:txBody>
      </p:sp>
    </p:spTree>
    <p:extLst>
      <p:ext uri="{BB962C8B-B14F-4D97-AF65-F5344CB8AC3E}">
        <p14:creationId xmlns:p14="http://schemas.microsoft.com/office/powerpoint/2010/main" val="19486034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11C263-4CD3-4B85-8A9A-4C58E3316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Early result: the honest prototype is more valuable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A79498-36EC-4A32-8731-D1CAC2A3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133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D25"/>
          </a:solidFill>
          <a:ln xmlns:a="http://schemas.openxmlformats.org/drawingml/2006/main" w="0">
            <a:solidFill>
              <a:srgbClr val="D99D2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AC9F92-6CC6-4D1E-B262-5D3E0420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</a:defRPr>
            </a:pPr>
            <a:r>
              <a:rPr sz="2550" b="1">
                <a:solidFill>
                  <a:srgbClr val="111827"/>
                </a:solidFill>
              </a:rPr>
              <a:t>Single-camera pose estimates are useful, but not perfect.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8D22EE-F5F1-43C2-AC15-657FE441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43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0EBAAA-7EB9-42FD-AEC1-71E38074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57550"/>
            <a:ext cx="7562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</a:defRPr>
            </a:pPr>
            <a:r>
              <a:rPr sz="1725" b="0">
                <a:solidFill>
                  <a:srgbClr val="111827"/>
                </a:solidFill>
              </a:rPr>
              <a:t>Motion blur and occlusion can reduce landmark quality.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9A1DDA-B31B-45CE-AB31-8A5FDD62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57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8E789A-0BB1-4218-8D48-6EE72105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7562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</a:defRPr>
            </a:pPr>
            <a:r>
              <a:rPr sz="1725" b="0">
                <a:solidFill>
                  <a:srgbClr val="111827"/>
                </a:solidFill>
              </a:rPr>
              <a:t>Inverted poses are difficult for general pose models.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BDC6EE-A432-450E-B12D-54F7630DA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71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6EF26B-ED7F-4FE5-931F-D7BC9122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86250"/>
            <a:ext cx="7562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827"/>
                </a:solidFill>
              </a:defRPr>
            </a:pPr>
            <a:r>
              <a:rPr sz="1725" b="0">
                <a:solidFill>
                  <a:srgbClr val="111827"/>
                </a:solidFill>
              </a:rPr>
              <a:t>The app reports estimates and keeps reviewable phase markers.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B7B2FD-A12A-4E7E-BF62-D7B1D8E4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81300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26ADE7-2EB5-44BF-8D7A-835DFB0F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5275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766E"/>
                </a:solidFill>
              </a:defRPr>
            </a:pPr>
            <a:r>
              <a:rPr sz="2400" b="1">
                <a:solidFill>
                  <a:srgbClr val="0F766E"/>
                </a:solidFill>
              </a:rPr>
              <a:t>Estimated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735F62-F484-4E75-B9EF-B413B491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90900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Prototype principle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33EC51-F745-4800-B740-CE9A9E47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3055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VaultLab | 7</a:t>
            </a:r>
          </a:p>
        </p:txBody>
      </p:sp>
    </p:spTree>
    <p:extLst>
      <p:ext uri="{BB962C8B-B14F-4D97-AF65-F5344CB8AC3E}">
        <p14:creationId xmlns:p14="http://schemas.microsoft.com/office/powerpoint/2010/main" val="13903605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71F2EB-09A3-4BC9-AEA7-C32B3A8E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The innovation is interpretable AI coaching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0B090E-0EC1-4E8F-B9C5-1830FE3A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133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D25"/>
          </a:solidFill>
          <a:ln xmlns:a="http://schemas.openxmlformats.org/drawingml/2006/main" w="0">
            <a:solidFill>
              <a:srgbClr val="D99D2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374290-B8F3-40DE-91BB-35478BB4F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86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0CB280-8686-432E-892A-A3C0FC78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00300"/>
            <a:ext cx="8324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827"/>
                </a:solidFill>
              </a:defRPr>
            </a:pPr>
            <a:r>
              <a:rPr sz="2100" b="0">
                <a:solidFill>
                  <a:srgbClr val="111827"/>
                </a:solidFill>
              </a:rPr>
              <a:t>Not just video review: structured variables are extracted.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A7B9D8-108E-4C3F-BD98-4166395AA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71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5069FE-C799-4DF0-8157-CC292E9D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86100"/>
            <a:ext cx="8324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827"/>
                </a:solidFill>
              </a:defRPr>
            </a:pPr>
            <a:r>
              <a:rPr sz="2100" b="0">
                <a:solidFill>
                  <a:srgbClr val="111827"/>
                </a:solidFill>
              </a:rPr>
              <a:t>Not just prediction: coefficients can explain which factors matter.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E64452-068C-4226-AD95-2A3348461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57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93E9FC-CD58-451C-B07A-A6E949D3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71900"/>
            <a:ext cx="8324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827"/>
                </a:solidFill>
              </a:defRPr>
            </a:pPr>
            <a:r>
              <a:rPr sz="2100" b="0">
                <a:solidFill>
                  <a:srgbClr val="111827"/>
                </a:solidFill>
              </a:rPr>
              <a:t>Not just a model: feedback is returned to the athlete.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3387B4-5FB6-4CBB-AC6A-06229913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10150"/>
            <a:ext cx="8763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6"/>
          </a:solidFill>
          <a:ln xmlns:a="http://schemas.openxmlformats.org/drawingml/2006/main" w="9525">
            <a:solidFill>
              <a:srgbClr val="EAD5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9BDDED-EDA6-4A0C-8C6A-D29FFD11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200650"/>
            <a:ext cx="819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Main innovation: accessible pole-vault biomechanics from ordinary athlete video.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BC7FF7-2F47-42A7-B7E4-C2647A39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3055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VaultLab | 8</a:t>
            </a:r>
          </a:p>
        </p:txBody>
      </p:sp>
    </p:spTree>
    <p:extLst>
      <p:ext uri="{BB962C8B-B14F-4D97-AF65-F5344CB8AC3E}">
        <p14:creationId xmlns:p14="http://schemas.microsoft.com/office/powerpoint/2010/main" val="13211084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77E69A-218A-4889-A6B0-58EA957B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Next milestone: validate the model with real attempts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DC932D-DCAA-4716-AABB-8B6612A0E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133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D25"/>
          </a:solidFill>
          <a:ln xmlns:a="http://schemas.openxmlformats.org/drawingml/2006/main" w="0">
            <a:solidFill>
              <a:srgbClr val="D99D25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7A221B-0D7D-4054-A4C1-EACE42767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52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25D9F0-CBFC-4ECB-B37F-F7B6438D0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66950"/>
            <a:ext cx="794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Collect 30-50 labeled vault attempts.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3422D0-6C89-4289-91B4-6DF16F29A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43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A5DB4C-2FFD-431E-81C9-A332D3A7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57500"/>
            <a:ext cx="794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Train logistic regression on exported CSV data.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14FDBF-587C-4AFC-9843-2F6B8CC7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33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17A284-AC87-4642-995E-334CA2E81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48050"/>
            <a:ext cx="794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Report accuracy and most influential variables.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4EBE1E-CC05-474C-BF83-49DE0203A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243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77DE19-B639-446E-AE73-F8CE6FF45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38600"/>
            <a:ext cx="7943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827"/>
                </a:solidFill>
              </a:defRPr>
            </a:pPr>
            <a:r>
              <a:rPr sz="1875" b="0">
                <a:solidFill>
                  <a:srgbClr val="111827"/>
                </a:solidFill>
              </a:rPr>
              <a:t>Upgrade pose model with YOLO Pose or RTMPose backend.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7009EE-05F5-4370-836A-0A27218F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14625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DB7625-D9AE-4145-B79F-1CE264BA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886075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766E"/>
                </a:solidFill>
              </a:defRPr>
            </a:pPr>
            <a:r>
              <a:rPr sz="2400" b="1">
                <a:solidFill>
                  <a:srgbClr val="0F766E"/>
                </a:solidFill>
              </a:rPr>
              <a:t>Ready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FB0A58-71BD-4EE9-B704-370E4BF47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242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Submission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93F06D-3278-4847-B3C8-061454C5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48125"/>
            <a:ext cx="2381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D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96A90D-9827-4CE0-8AD2-762F9F1C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219575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F766E"/>
                </a:solidFill>
              </a:defRPr>
            </a:pPr>
            <a:r>
              <a:rPr sz="2400" b="1">
                <a:solidFill>
                  <a:srgbClr val="0F766E"/>
                </a:solidFill>
              </a:rPr>
              <a:t>YOLO / RTMPose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B46E45-EF78-4CF7-8622-F8CCD3FE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65772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Future 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6DE144-E521-4AC2-AC8F-043D80495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3055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6B7280"/>
                </a:solidFill>
              </a:defRPr>
            </a:pPr>
            <a:r>
              <a:rPr sz="1050" b="0">
                <a:solidFill>
                  <a:srgbClr val="6B7280"/>
                </a:solidFill>
              </a:rPr>
              <a:t>VaultLab | 9</a:t>
            </a:r>
          </a:p>
        </p:txBody>
      </p:sp>
    </p:spTree>
    <p:extLst>
      <p:ext uri="{BB962C8B-B14F-4D97-AF65-F5344CB8AC3E}">
        <p14:creationId xmlns:p14="http://schemas.microsoft.com/office/powerpoint/2010/main" val="12956133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2026-08-19T20:28:45.9490000Z</dcterms:created>
  <dcterms:modified xsi:type="dcterms:W3CDTF">2026-08-19T20:28:45.9490000Z</dcterms:modified>
</coreProperties>
</file>