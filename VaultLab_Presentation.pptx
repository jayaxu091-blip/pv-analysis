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beeaa6f624424a" /><Relationship Type="http://schemas.openxmlformats.org/officeDocument/2006/relationships/extended-properties" Target="/docProps/app.xml" Id="Rc7dffccf8c784c5a" /><Relationship Type="http://schemas.openxmlformats.org/officeDocument/2006/relationships/officeDocument" Target="/ppt/presentation.xml" Id="R819c04db0425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e3dd5fcc6646b5"/>
  </p:sldMasterIdLst>
  <p:notesMasterIdLst>
    <p:notesMasterId xmlns:r="http://schemas.openxmlformats.org/officeDocument/2006/relationships" r:id="R3e949d0cb5db4118"/>
  </p:notesMasterIdLst>
  <p:sldIdLst>
    <p:sldId xmlns:r="http://schemas.openxmlformats.org/officeDocument/2006/relationships" id="256" r:id="R79f22fbe08724666"/>
    <p:sldId xmlns:r="http://schemas.openxmlformats.org/officeDocument/2006/relationships" id="257" r:id="R4b14aa87f75a4c77"/>
    <p:sldId xmlns:r="http://schemas.openxmlformats.org/officeDocument/2006/relationships" id="258" r:id="Rc3c6394564464f7e"/>
    <p:sldId xmlns:r="http://schemas.openxmlformats.org/officeDocument/2006/relationships" id="259" r:id="R625afd5e197143ef"/>
    <p:sldId xmlns:r="http://schemas.openxmlformats.org/officeDocument/2006/relationships" id="260" r:id="R12aaad06a5704f1a"/>
    <p:sldId xmlns:r="http://schemas.openxmlformats.org/officeDocument/2006/relationships" id="261" r:id="R5e2fb882a0f545b8"/>
    <p:sldId xmlns:r="http://schemas.openxmlformats.org/officeDocument/2006/relationships" id="262" r:id="R2500b1d8a29049ec"/>
    <p:sldId xmlns:r="http://schemas.openxmlformats.org/officeDocument/2006/relationships" id="263" r:id="R99a00153b67c46b9"/>
    <p:sldId xmlns:r="http://schemas.openxmlformats.org/officeDocument/2006/relationships" id="264" r:id="R8694f7b79c314d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872c4d83d44a7" /><Relationship Type="http://schemas.openxmlformats.org/officeDocument/2006/relationships/slideMaster" Target="/ppt/slideMasters/slideMaster1.xml" Id="R1ae3dd5fcc6646b5" /><Relationship Type="http://schemas.openxmlformats.org/officeDocument/2006/relationships/notesMaster" Target="/ppt/notesMasters/notesMaster1.xml" Id="R3e949d0cb5db4118" /><Relationship Type="http://schemas.openxmlformats.org/officeDocument/2006/relationships/presProps" Target="/ppt/presProps.xml" Id="R445211b617774537" /><Relationship Type="http://schemas.openxmlformats.org/officeDocument/2006/relationships/tableStyles" Target="/ppt/tableStyles.xml" Id="R761c6095caf1476f" /><Relationship Type="http://schemas.openxmlformats.org/officeDocument/2006/relationships/slide" Target="/ppt/slides/slide1.xml" Id="R79f22fbe08724666" /><Relationship Type="http://schemas.openxmlformats.org/officeDocument/2006/relationships/slide" Target="/ppt/slides/slide2.xml" Id="R4b14aa87f75a4c77" /><Relationship Type="http://schemas.openxmlformats.org/officeDocument/2006/relationships/slide" Target="/ppt/slides/slide3.xml" Id="Rc3c6394564464f7e" /><Relationship Type="http://schemas.openxmlformats.org/officeDocument/2006/relationships/slide" Target="/ppt/slides/slide4.xml" Id="R625afd5e197143ef" /><Relationship Type="http://schemas.openxmlformats.org/officeDocument/2006/relationships/slide" Target="/ppt/slides/slide5.xml" Id="R12aaad06a5704f1a" /><Relationship Type="http://schemas.openxmlformats.org/officeDocument/2006/relationships/slide" Target="/ppt/slides/slide6.xml" Id="R5e2fb882a0f545b8" /><Relationship Type="http://schemas.openxmlformats.org/officeDocument/2006/relationships/slide" Target="/ppt/slides/slide7.xml" Id="R2500b1d8a29049ec" /><Relationship Type="http://schemas.openxmlformats.org/officeDocument/2006/relationships/slide" Target="/ppt/slides/slide8.xml" Id="R99a00153b67c46b9" /><Relationship Type="http://schemas.openxmlformats.org/officeDocument/2006/relationships/slide" Target="/ppt/slides/slide9.xml" Id="R8694f7b79c314d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82cfe3662141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8644136bd4e6d" /><Relationship Type="http://schemas.openxmlformats.org/officeDocument/2006/relationships/notesMaster" Target="/ppt/notesMasters/notesMaster1.xml" Id="Rc531ac23f2714a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300153d66647d8" /><Relationship Type="http://schemas.openxmlformats.org/officeDocument/2006/relationships/notesMaster" Target="/ppt/notesMasters/notesMaster1.xml" Id="R3620aabf0bab46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16a97886c43d6" /><Relationship Type="http://schemas.openxmlformats.org/officeDocument/2006/relationships/notesMaster" Target="/ppt/notesMasters/notesMaster1.xml" Id="R0f1138d381ba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0076a270b1498f" /><Relationship Type="http://schemas.openxmlformats.org/officeDocument/2006/relationships/notesMaster" Target="/ppt/notesMasters/notesMaster1.xml" Id="R11af8741e40a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ca0f77f8e84454" /><Relationship Type="http://schemas.openxmlformats.org/officeDocument/2006/relationships/notesMaster" Target="/ppt/notesMasters/notesMaster1.xml" Id="R2a4c255899234e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707875aafa480a" /><Relationship Type="http://schemas.openxmlformats.org/officeDocument/2006/relationships/notesMaster" Target="/ppt/notesMasters/notesMaster1.xml" Id="R63998561b23743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cc10fbbef94a27" /><Relationship Type="http://schemas.openxmlformats.org/officeDocument/2006/relationships/notesMaster" Target="/ppt/notesMasters/notesMaster1.xml" Id="Rf3f564e4d6ef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f88e8ccb274184" /><Relationship Type="http://schemas.openxmlformats.org/officeDocument/2006/relationships/notesMaster" Target="/ppt/notesMasters/notesMaster1.xml" Id="R67832b3fb1d344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c2396d64934ede" /><Relationship Type="http://schemas.openxmlformats.org/officeDocument/2006/relationships/notesMaster" Target="/ppt/notesMasters/notesMaster1.xml" Id="R50bcf2a80528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Project prototype and author research notes.</a:t>
            </a:r>
          </a:p>
          <a:p xmlns:a="http://schemas.openxmlformats.org/drawingml/2006/main">
            <a:r>
              <a:t>Opening hook: a normal phone video can become measurable technique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User project goals and competition description.</a:t>
            </a:r>
          </a:p>
          <a:p xmlns:a="http://schemas.openxmlformats.org/drawingml/2006/main">
            <a:r>
              <a:t>Problem framing emphasizes accessibility and objectivity.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scikit-learn LogisticRegression documentation; project methodology.</a:t>
            </a:r>
          </a:p>
          <a:p xmlns:a="http://schemas.openxmlformats.org/drawingml/2006/main">
            <a:r>
              <a:t>Logistic regression is interpretable through feature coefficients.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Google MediaPipe Pose Landmarker documentation; VaultLab source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Linthorne et al. 2012; author research map; VaultLab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Firebase Hosting deployment; VaultLab GitHub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Bissas &amp; Cronin 2026; author research notes.</a:t>
            </a:r>
          </a:p>
          <a:p xmlns:a="http://schemas.openxmlformats.org/drawingml/2006/main">
            <a:r>
              <a:t>This slide prevents overclaiming and makes the project sound scientifically mature.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Project objective and app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Project roadmap; scikit-learn LogisticRegression documentation; author research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95c0cd006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8548315ddb4273" /><Relationship Type="http://schemas.openxmlformats.org/officeDocument/2006/relationships/slideLayout" Target="/ppt/slideLayouts/slideLayout1.xml" Id="R50cddf819da747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ddf819da747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75109e6b94911" /><Relationship Type="http://schemas.openxmlformats.org/officeDocument/2006/relationships/notesSlide" Target="/ppt/notesSlides/notesSlide1.xml" Id="Rf16b633ff28b4c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420960755444e" /><Relationship Type="http://schemas.openxmlformats.org/officeDocument/2006/relationships/notesSlide" Target="/ppt/notesSlides/notesSlide2.xml" Id="Rd3731f9cf142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2468dcfad4ab4" /><Relationship Type="http://schemas.openxmlformats.org/officeDocument/2006/relationships/notesSlide" Target="/ppt/notesSlides/notesSlide3.xml" Id="Ra952eb53f5884f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33e4cf01a4468" /><Relationship Type="http://schemas.openxmlformats.org/officeDocument/2006/relationships/notesSlide" Target="/ppt/notesSlides/notesSlide4.xml" Id="Rc7ebcb0e25064f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321d02c6740e5" /><Relationship Type="http://schemas.openxmlformats.org/officeDocument/2006/relationships/notesSlide" Target="/ppt/notesSlides/notesSlide5.xml" Id="R12c677e852bc4b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e7a5b9c54b8a" /><Relationship Type="http://schemas.openxmlformats.org/officeDocument/2006/relationships/notesSlide" Target="/ppt/notesSlides/notesSlide6.xml" Id="R9654fe6554a846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d2dce5a4e4ef7" /><Relationship Type="http://schemas.openxmlformats.org/officeDocument/2006/relationships/notesSlide" Target="/ppt/notesSlides/notesSlide7.xml" Id="Rb841d8d80763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5826c0d804d45" /><Relationship Type="http://schemas.openxmlformats.org/officeDocument/2006/relationships/notesSlide" Target="/ppt/notesSlides/notesSlide8.xml" Id="R4c45f8cef1a043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22fb206324408" /><Relationship Type="http://schemas.openxmlformats.org/officeDocument/2006/relationships/notesSlide" Target="/ppt/notesSlides/notesSlide9.xml" Id="Rd4f20192e14449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87CE1-44A9-428C-BA43-F79AEB1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What if every vault video became data?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38D11-2896-4750-8A4C-099E1C7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VaultLab uses pose estimation and interpretable machine learning to help pole vaulters understand technique.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CF98A-0F34-4C80-AB32-FFA85D8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0100"/>
            <a:ext cx="2571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1023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9AA07-4A40-47F2-9CC4-291E3CB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02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8FD6C9"/>
                </a:solidFill>
              </a:defRPr>
            </a:pPr>
            <a:r>
              <a:rPr sz="5400" b="1">
                <a:solidFill>
                  <a:srgbClr val="8FD6C9"/>
                </a:solidFill>
              </a:rPr>
              <a:t>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9FB1F-19C7-4D6D-A35C-E7A25BB4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AI video analysis</a:t>
            </a:r>
          </a:p>
          <a:p xmlns:a="http://schemas.openxmlformats.org/drawingml/2006/main">
            <a:pPr algn="ctr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for pole vault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545E6-C1A1-4E98-BD34-EC32467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STEM Research &amp; Innovation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A9CC9-7497-4A17-9FC5-83A37582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1</a:t>
            </a:r>
          </a:p>
        </p:txBody>
      </p:sp>
    </p:spTree>
    <p:extLst>
      <p:ext uri="{BB962C8B-B14F-4D97-AF65-F5344CB8AC3E}">
        <p14:creationId xmlns:p14="http://schemas.microsoft.com/office/powerpoint/2010/main" val="635906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AC3B0-C679-4DE3-AE41-354BC262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Young athletes get video, but not measurements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924D0-811B-475C-8BF4-1E57F60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B06D9-8013-4AE3-B5A0-16FC465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D27CC-DFE6-467C-812B-856B1354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Coaching feedback is often visual and subjective.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17637-FA8F-456C-8C8C-AFD920B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FC220-10D5-46B3-B29D-7021338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Biomechanical tools can be expensive or hard to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6F1C7-E5ED-4F4B-9428-53EF2F6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A18FA-9690-4E36-B566-ED490A8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699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Pole vault happens too fast to judge every phase by eye.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04371-F340-4E84-8A63-A65F61F4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2FCC9-FECC-4C7C-A93A-7A2DF287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A71F5-75B2-4983-948D-BB48753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Core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99A0E-DF67-4DF3-A2CA-8C4E049E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CC484-630F-46D2-AAE9-A47C59A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Athletes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5793F-39A0-4642-AB32-E58D5F5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38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Target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09887-69FE-42FC-91F4-FEC355E7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2</a:t>
            </a:r>
          </a:p>
        </p:txBody>
      </p:sp>
    </p:spTree>
    <p:extLst>
      <p:ext uri="{BB962C8B-B14F-4D97-AF65-F5344CB8AC3E}">
        <p14:creationId xmlns:p14="http://schemas.microsoft.com/office/powerpoint/2010/main" val="811402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37BC5-CA11-4EF6-BD10-520982E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Research question: which variables predict success?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2D503-1A09-414A-93F5-2C7DEA68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1B10-8467-4852-A281-34CBA9EA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Can computer vision extract pole-vault technique variables from video and use them to predict whether a jump is a make or miss?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2F0FF-9DEE-4990-8100-CA123908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52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B5B9B-79D7-43BA-9607-C084F17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Model: logistic regression trained from labeled makes and misses because the target is binary.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DE7AF-F976-4782-915F-99A51EAC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3</a:t>
            </a:r>
          </a:p>
        </p:txBody>
      </p:sp>
    </p:spTree>
    <p:extLst>
      <p:ext uri="{BB962C8B-B14F-4D97-AF65-F5344CB8AC3E}">
        <p14:creationId xmlns:p14="http://schemas.microsoft.com/office/powerpoint/2010/main" val="789895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C51C1-9CA6-45B1-B38E-31CD4E7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The system turns video into a research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E63CD-5CCD-4D52-904A-08967EDE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514FA-6B7F-4A6F-84F7-0BC6FC7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7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B7023-CD16-43BC-95FA-0299382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B1303-A643-4153-9FF9-B1C180CF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D25"/>
                </a:solidFill>
              </a:defRPr>
            </a:pPr>
            <a:r>
              <a:rPr sz="2550" b="1">
                <a:solidFill>
                  <a:srgbClr val="D99D25"/>
                </a:solidFill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CD10E-CE95-4824-85FB-756700F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12496-32F5-4BB5-AE77-72C5919C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08949-ACC3-4325-895F-1104DA83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D25"/>
                </a:solidFill>
              </a:defRPr>
            </a:pPr>
            <a:r>
              <a:rPr sz="2550" b="1">
                <a:solidFill>
                  <a:srgbClr val="D99D25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3C45D-6372-4BD6-81F3-F822258D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1B7D-7DE2-4F76-BB53-1ED69BB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527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69457-EEB2-4A8E-AFE0-47FA0CA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D25"/>
                </a:solidFill>
              </a:defRPr>
            </a:pPr>
            <a:r>
              <a:rPr sz="2550" b="1">
                <a:solidFill>
                  <a:srgbClr val="D99D25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B737-E5F7-4336-9F5E-8AA57F05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D3DF8-AF78-412A-9CC9-BA4D4DDB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3AED1-BD6B-4489-BEFE-70105EF6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D25"/>
                </a:solidFill>
              </a:defRPr>
            </a:pPr>
            <a:r>
              <a:rPr sz="2550" b="1">
                <a:solidFill>
                  <a:srgbClr val="D99D25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304F6-B22C-4896-B7A3-D666E9D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B720B-2494-4A41-81D4-35EA6605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C2CB8-B3AF-420D-A98A-93A1341D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42AC6-E8D9-4060-91FA-2F60F51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851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Pose landmarks locate shoulders, hips, knees, and ankles.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E8363-13BA-4071-AFC3-AE4502F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2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3FBB1-5E51-4632-A07C-D70FAC1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851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VaultLab estimates takeoff, inversion, clearance, and speed.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4E316-5FB4-466D-98D1-9EF84F61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8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FA02F-D575-4F49-8E3D-BF188DD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851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Each saved attempt becomes one labeled model row.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07E98-7ADE-4EC7-A9B7-7C0B65C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4</a:t>
            </a:r>
          </a:p>
        </p:txBody>
      </p:sp>
    </p:spTree>
    <p:extLst>
      <p:ext uri="{BB962C8B-B14F-4D97-AF65-F5344CB8AC3E}">
        <p14:creationId xmlns:p14="http://schemas.microsoft.com/office/powerpoint/2010/main" val="1818866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32A42-5E70-4219-9E2F-6D4144BB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VaultLab measures the variables coaches care about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0D284-77AF-4784-9752-ABBDE638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B0D2B-407E-45FE-BB05-DB3370F3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05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5BCAF-DE00-483D-82F2-27DE6BD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69512-5C76-4D83-B505-A5717EA5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distance /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FBE9E-19C8-4FC7-AA75-0D85960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58982-1E65-46DC-8620-D986630B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305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BB39E-E8F7-47CB-B800-71453D8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Takeoff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B4C30-AA7B-412D-AC51-1B33D39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body line 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FC08D-18F3-49CA-A37F-DC7556F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D8932-86BB-4C01-897F-9B02933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305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9D029-81A1-499C-970D-A92503F3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Inversion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C648F-60B0-4279-B0E5-7D5F922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shoulder-hip-ankle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C5EA3-F91F-4C62-9F19-FFD79CB9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swing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9E202-9CEF-4875-A985-FDA6CE68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305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C3455-FB20-4EAE-8E98-2EA20427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Clearance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C8934-FC27-41F9-919E-37129F14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bar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30A1D-A301-4C29-8AC9-75A406A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make/miss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CD677-7FD3-45C6-A0AF-FAD9893A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5</a:t>
            </a:r>
          </a:p>
        </p:txBody>
      </p:sp>
    </p:spTree>
    <p:extLst>
      <p:ext uri="{BB962C8B-B14F-4D97-AF65-F5344CB8AC3E}">
        <p14:creationId xmlns:p14="http://schemas.microsoft.com/office/powerpoint/2010/main" val="2106486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EB19E-387C-4BFB-A87C-CE2C205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The final app is live and demo-ready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A267-52C2-4DDA-9944-E921BEC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FCED1-FF77-4A91-B53C-632E6F83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DB2CC-6305-46B0-B84F-27AC6DC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React + Vite + TypeScript web app hosted on Firebase.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E795E-471E-4DAD-B45F-D2061E0E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A3065-FA93-46D7-BFA1-9F83378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Firebase sign-in plus demo mode for judges.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9378-216C-4A45-83CD-CE1F8F9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FE451-B702-4C94-BD75-9DD474F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Full-video pose analysis with skeleton overlay.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AF325-C73D-4517-BF07-DE731DF3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A51C4-ADC3-42DD-A035-C5D058B4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Attempt log, CSV export, and trained vault model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7C1D4-0E48-4C43-9463-84A44E07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1023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D2547-B65A-4D48-A957-C664C3F0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FD6C9"/>
                </a:solidFill>
              </a:defRPr>
            </a:pPr>
            <a:r>
              <a:rPr sz="1725" b="1">
                <a:solidFill>
                  <a:srgbClr val="8FD6C9"/>
                </a:solidFill>
              </a:rPr>
              <a:t>Live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2402E-306C-4042-A2F6-37078D42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pvanalysis-68252.web.app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69ADB-0932-48F4-8E3F-F27E4EC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6</a:t>
            </a:r>
          </a:p>
        </p:txBody>
      </p:sp>
    </p:spTree>
    <p:extLst>
      <p:ext uri="{BB962C8B-B14F-4D97-AF65-F5344CB8AC3E}">
        <p14:creationId xmlns:p14="http://schemas.microsoft.com/office/powerpoint/2010/main" val="331710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189C0-6D50-44A8-8C6A-CCDEA181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Early result: honest AI feedback is more valuable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2F1DA-26D4-4388-948E-F8AAFDD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AF136-FE37-49BD-99ED-90A8444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Single-camera pose estimates are useful, but not 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AED95-7D6E-4371-8552-E066464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B7D6D-D3A5-4081-AFA1-0EADE911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756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Motion blur and occlusion can reduce landmark quality.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2C8FD-3F4D-4602-B1E2-45714199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57FAC-F1E7-4352-A946-DAD2F27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756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Inverted poses are difficult for general pose models.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60A4-D26F-4657-B280-ABD05F74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B8F6-23AE-4B44-B600-FF8CCD2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756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The app reports estimates and keeps reviewable phase markers.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84D3B-24B7-4037-B1D3-7A4678C7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3716B-8E9D-489F-B15C-E034CE7B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Estimated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65EF5-4D53-41CC-821B-59F37BD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Model principle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7696C-A49D-4027-9745-AE6E1349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7</a:t>
            </a:r>
          </a:p>
        </p:txBody>
      </p:sp>
    </p:spTree>
    <p:extLst>
      <p:ext uri="{BB962C8B-B14F-4D97-AF65-F5344CB8AC3E}">
        <p14:creationId xmlns:p14="http://schemas.microsoft.com/office/powerpoint/2010/main" val="1771196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76272-7E84-4840-9720-20A0849E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The innovation is interpretable AI coaching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D3CAF-7A10-4440-8E6B-67D6B451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5B36F-DF95-4669-9EF8-CD8A86F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48E66-DE29-4FA3-ABFB-CB855B09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Not just video review: structured variables are extracted.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88439-58B0-4072-A004-AAF3EC2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6AC7-F8DF-4EA2-9352-69F67C94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Not just prediction: coefficients can explain which factors matter.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BADF7-A0A3-4F26-9721-A77147AA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5C066-7DC1-429D-A5C3-40A19E24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Not just a model: feedback is returned to the athlete.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4010E-BE5C-40C4-A88C-8D96A517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AD5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EA2E5-A98E-4343-81EF-788FB17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Main innovation: accessible pole-vault biomechanics from ordinary athlete video.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BCFAD-2B54-4D2B-B725-B2BA6FB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8</a:t>
            </a:r>
          </a:p>
        </p:txBody>
      </p:sp>
    </p:spTree>
    <p:extLst>
      <p:ext uri="{BB962C8B-B14F-4D97-AF65-F5344CB8AC3E}">
        <p14:creationId xmlns:p14="http://schemas.microsoft.com/office/powerpoint/2010/main" val="12212852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12944-EBC4-409F-A4EF-D2D9D93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Next milestone: validate and improve the trained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C4CB7-473D-4BD6-BF0B-AB8C8730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D25"/>
          </a:solidFill>
          <a:ln xmlns:a="http://schemas.openxmlformats.org/drawingml/2006/main" w="0">
            <a:solidFill>
              <a:srgbClr val="D99D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B020A-EB0A-46CE-972B-6F31363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B2FFB-465E-4F46-8E0F-7D85428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Collect 30-50 labeled vault attempts.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F2D8B-B632-4D87-9A93-D5E3A7AC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7FF8B-3A20-4199-AE15-F1B8461B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Test logistic regression accuracy on held-out attempts.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7AA39-79B5-4A2C-8680-EED486A6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59583-3C03-4D46-9172-15D7FC52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Report accuracy and most influential variables.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427CD-7522-4508-9B0B-9BBB55E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9560B-5C99-4B04-9DFF-4270A28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Upgrade pose model with YOLO Pose or RTMPose backend.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1C045-692B-4ABC-ACF2-BC19FCB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24093-0CFC-4C39-9072-D4F33919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860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76ED2-9AF1-4767-9647-A94C230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242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Submission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D0090-92FA-42FD-A1F3-9FFFEA4A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4812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10767-6341-4D76-A2D8-64A45E9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95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</a:defRPr>
            </a:pPr>
            <a:r>
              <a:rPr sz="2400" b="1">
                <a:solidFill>
                  <a:srgbClr val="0F766E"/>
                </a:solidFill>
              </a:rPr>
              <a:t>YOLO / RTMPose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90618-B379-47AB-BCA7-8162AE41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577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Next pose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E2D54-8EC3-4A5A-9824-40EC976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VaultLab | 9</a:t>
            </a:r>
          </a:p>
        </p:txBody>
      </p:sp>
    </p:spTree>
    <p:extLst>
      <p:ext uri="{BB962C8B-B14F-4D97-AF65-F5344CB8AC3E}">
        <p14:creationId xmlns:p14="http://schemas.microsoft.com/office/powerpoint/2010/main" val="511731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2026-08-19T21:34:28.7870000Z</dcterms:created>
  <dcterms:modified xsi:type="dcterms:W3CDTF">2026-08-19T21:34:28.7870000Z</dcterms:modified>
</coreProperties>
</file>